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image" Target="../media/image47.png"/><Relationship Id="rId16" Type="http://schemas.openxmlformats.org/officeDocument/2006/relationships/image" Target="../media/image48.png"/><Relationship Id="rId17" Type="http://schemas.openxmlformats.org/officeDocument/2006/relationships/image" Target="../media/image4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187" y="1850975"/>
            <a:ext cx="3095625" cy="5295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5338" y="2380505"/>
            <a:ext cx="10581322" cy="1270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b="0" sz="4350" i="0" u="none">
                <a:solidFill>
                  <a:srgbClr val="FFFFFF"/>
                </a:solidFill>
                <a:latin typeface="Plus Jakarta Sans ExtraBold"/>
              </a:rPr>
              <a:t>Container Congestion Predictor &amp; Port Operations Optimiser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879502"/>
            <a:ext cx="8572500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b="0" sz="2100" i="0" u="none">
                <a:solidFill>
                  <a:srgbClr val="38BDF8"/>
                </a:solidFill>
                <a:latin typeface="Plus Jakarta Sans Medium"/>
              </a:rPr>
              <a:t>AI-Powered Port Congestion Intelligence &amp; 72-Hour Operations Planning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2" y="2001440"/>
            <a:ext cx="233362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5518398"/>
            <a:ext cx="11220450" cy="6628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617315"/>
            <a:ext cx="2512218" cy="15924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8518" y="1617315"/>
            <a:ext cx="2512218" cy="15924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262" y="1617315"/>
            <a:ext cx="2512218" cy="15924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4006" y="1666875"/>
            <a:ext cx="2512218" cy="149334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3543151"/>
            <a:ext cx="5491162" cy="173712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5062" y="3543151"/>
            <a:ext cx="5491162" cy="173712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" y="565695"/>
            <a:ext cx="395287" cy="400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2475" y="5689848"/>
            <a:ext cx="1072515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1" u="none">
                <a:solidFill>
                  <a:srgbClr val="E2E8F0"/>
                </a:solidFill>
                <a:latin typeface="Plus Jakarta Sans Medium"/>
              </a:rPr>
              <a:t>"The challenge is not just detecting congestion — it is deciding what to do next."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0434" y="1855440"/>
            <a:ext cx="3429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2993" y="2274540"/>
            <a:ext cx="2257782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F8FAFC"/>
                </a:solidFill>
                <a:latin typeface="Plus Jakarta Sans SemiBold"/>
              </a:rPr>
              <a:t>Vessel Arrivals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2651670"/>
            <a:ext cx="2150268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Plus Jakarta Sans"/>
              </a:rPr>
              <a:t>High density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74193" y="2293590"/>
            <a:ext cx="23812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2228" y="1855440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15737" y="2274540"/>
            <a:ext cx="2257782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F8FAFC"/>
                </a:solidFill>
                <a:latin typeface="Plus Jakarta Sans SemiBold"/>
              </a:rPr>
              <a:t>Growing Queue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9493" y="2651670"/>
            <a:ext cx="2150268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Plus Jakarta Sans"/>
              </a:rPr>
              <a:t>Wait times surge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76937" y="2293590"/>
            <a:ext cx="238125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75921" y="1855440"/>
            <a:ext cx="342900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18480" y="2274540"/>
            <a:ext cx="2257782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F8FAFC"/>
                </a:solidFill>
                <a:latin typeface="Plus Jakarta Sans SemiBold"/>
              </a:rPr>
              <a:t>Berth Bottleneck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2237" y="2651670"/>
            <a:ext cx="2150268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Plus Jakarta Sans"/>
              </a:rPr>
              <a:t>Resource conflict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79681" y="2293590"/>
            <a:ext cx="238125" cy="2667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321224" y="2224980"/>
            <a:ext cx="2257782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F8FAFC"/>
                </a:solidFill>
                <a:latin typeface="Plus Jakarta Sans SemiBold"/>
              </a:rPr>
              <a:t>Higher Costs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4981" y="2602110"/>
            <a:ext cx="2150268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Plus Jakarta Sans"/>
              </a:rPr>
              <a:t>Operational delay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475" y="3733651"/>
            <a:ext cx="5245655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F8FAFC"/>
                </a:solidFill>
                <a:latin typeface="Plus Jakarta Sans SemiBold"/>
              </a:rPr>
              <a:t>Who is affected?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475" y="4129831"/>
            <a:ext cx="4995862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Plus Jakarta Sans"/>
              </a:rPr>
              <a:t>Port operators, terminal planners, vessel operators, and logistics teams managing tight turnaround schedules.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1762" y="3733651"/>
            <a:ext cx="5245655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F8FAFC"/>
                </a:solidFill>
                <a:latin typeface="Plus Jakarta Sans SemiBold"/>
              </a:rPr>
              <a:t>Why does it matter?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1762" y="4129831"/>
            <a:ext cx="4995862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Plus Jakarta Sans"/>
              </a:rPr>
              <a:t>A single operational bottleneck triggers a wider chain reaction across entire port networks, escalating demurrage costs.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3937" y="485775"/>
            <a:ext cx="11168062" cy="56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4409"/>
              </a:lnSpc>
            </a:pPr>
            <a:r>
              <a:rPr b="1" sz="3150" i="0" u="none">
                <a:solidFill>
                  <a:srgbClr val="FFFFFF"/>
                </a:solidFill>
                <a:latin typeface="Plus Jakarta Sans"/>
              </a:rPr>
              <a:t>The Problem: Port Congestion Creates a Chain Reaction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5556498"/>
            <a:ext cx="11220450" cy="6628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004095"/>
            <a:ext cx="2662237" cy="207615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512" y="3004095"/>
            <a:ext cx="2662237" cy="207615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3004095"/>
            <a:ext cx="2662237" cy="207615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987" y="3004095"/>
            <a:ext cx="2662237" cy="207615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565695"/>
            <a:ext cx="300037" cy="400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2475" y="5727948"/>
            <a:ext cx="1072515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1" u="none">
                <a:solidFill>
                  <a:srgbClr val="E2E8F0"/>
                </a:solidFill>
                <a:latin typeface="Plus Jakarta Sans Medium"/>
              </a:rPr>
              <a:t>"Turn operational data into actionable port decisions."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3477" y="1788765"/>
            <a:ext cx="23812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8175" y="2150715"/>
            <a:ext cx="174873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FFFFFF"/>
                </a:solidFill>
                <a:latin typeface="Plus Jakarta Sans SemiBold"/>
              </a:rPr>
              <a:t>Port Data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6930" y="2007840"/>
            <a:ext cx="14287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0845" y="1788765"/>
            <a:ext cx="2667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29830" y="2150715"/>
            <a:ext cx="174873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FFFFFF"/>
                </a:solidFill>
                <a:latin typeface="Plus Jakarta Sans SemiBold"/>
              </a:rPr>
              <a:t>AI Prediction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8585" y="2007840"/>
            <a:ext cx="14287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2501" y="1788765"/>
            <a:ext cx="266700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21485" y="2150715"/>
            <a:ext cx="174873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FFFFFF"/>
                </a:solidFill>
                <a:latin typeface="Plus Jakarta Sans SemiBold"/>
              </a:rPr>
              <a:t>Route Recs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0241" y="2007840"/>
            <a:ext cx="142875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4156" y="1788765"/>
            <a:ext cx="266700" cy="266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513141" y="2150715"/>
            <a:ext cx="174873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FFFFFF"/>
                </a:solidFill>
                <a:latin typeface="Plus Jakarta Sans SemiBold"/>
              </a:rPr>
              <a:t>Optimization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1896" y="2007840"/>
            <a:ext cx="142875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60099" y="1788765"/>
            <a:ext cx="238125" cy="2667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804796" y="2150715"/>
            <a:ext cx="174873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FFFFFF"/>
                </a:solidFill>
                <a:latin typeface="Plus Jakarta Sans SemiBold"/>
              </a:rPr>
              <a:t>72-Hr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204120"/>
            <a:ext cx="2375296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8BDF8"/>
                </a:solidFill>
                <a:latin typeface="Plus Jakarta Sans"/>
              </a:rPr>
              <a:t>PREDICT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600301"/>
            <a:ext cx="2262187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Identify LOW, MEDIUM, or HIGH congestion states across terminals.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537" y="3204120"/>
            <a:ext cx="2375296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8BDF8"/>
                </a:solidFill>
                <a:latin typeface="Plus Jakarta Sans"/>
              </a:rPr>
              <a:t>RECOMMEND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537" y="3600301"/>
            <a:ext cx="2262187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Suggest optimal routes based on wait time, congestion, and cost.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275" y="3204120"/>
            <a:ext cx="2375296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8BDF8"/>
                </a:solidFill>
                <a:latin typeface="Plus Jakarta Sans"/>
              </a:rPr>
              <a:t>OPTIMIZE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275" y="3600301"/>
            <a:ext cx="2262187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Assign berths &amp; cranes using real-time availability and priority.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012" y="3204120"/>
            <a:ext cx="2375296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8BDF8"/>
                </a:solidFill>
                <a:latin typeface="Plus Jakarta Sans"/>
              </a:rPr>
              <a:t>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012" y="3600301"/>
            <a:ext cx="2262187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Generate comprehensive 72-hour operational schedules instantly.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687" y="485775"/>
            <a:ext cx="11263312" cy="56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4409"/>
              </a:lnSpc>
            </a:pPr>
            <a:r>
              <a:rPr b="1" sz="3150" i="0" u="none">
                <a:solidFill>
                  <a:srgbClr val="FFFFFF"/>
                </a:solidFill>
                <a:latin typeface="Plus Jakarta Sans"/>
              </a:rPr>
              <a:t>Our Solution: From Congestion Prediction to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522065"/>
            <a:ext cx="2662237" cy="395436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512" y="1522065"/>
            <a:ext cx="2662237" cy="395436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522065"/>
            <a:ext cx="2662237" cy="395436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987" y="1522065"/>
            <a:ext cx="2662237" cy="395436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565695"/>
            <a:ext cx="442912" cy="400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4493" y="1769715"/>
            <a:ext cx="304800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9245" y="2255490"/>
            <a:ext cx="2375296" cy="339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1" sz="1800" i="0" u="none">
                <a:solidFill>
                  <a:srgbClr val="FFFFFF"/>
                </a:solidFill>
                <a:latin typeface="Plus Jakarta Sans"/>
              </a:rP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51670"/>
            <a:ext cx="2262187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8181" y="1769715"/>
            <a:ext cx="342900" cy="342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81982" y="2255490"/>
            <a:ext cx="2375296" cy="339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1" sz="1800" i="0" u="none">
                <a:solidFill>
                  <a:srgbClr val="FFFFFF"/>
                </a:solidFill>
                <a:latin typeface="Plus Jakarta Sans"/>
              </a:rPr>
              <a:t>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38537" y="2651670"/>
            <a:ext cx="2262187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0918" y="1769715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34720" y="2255490"/>
            <a:ext cx="2375296" cy="339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1" sz="1800" i="0" u="none">
                <a:solidFill>
                  <a:srgbClr val="FFFFFF"/>
                </a:solidFill>
                <a:latin typeface="Plus Jakarta Sans"/>
              </a:rPr>
              <a:t>AI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91275" y="2651670"/>
            <a:ext cx="2262187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79843" y="1769715"/>
            <a:ext cx="39052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87457" y="2255490"/>
            <a:ext cx="2375296" cy="339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1" sz="1800" i="0" u="none">
                <a:solidFill>
                  <a:srgbClr val="FFFFFF"/>
                </a:solidFill>
                <a:latin typeface="Plus Jakarta Sans"/>
              </a:rPr>
              <a:t>FRONTEND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44012" y="2651670"/>
            <a:ext cx="2262187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025" y="2870745"/>
            <a:ext cx="1985962" cy="3295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Vessels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247876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2025" y="3314551"/>
            <a:ext cx="1985962" cy="3295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Berths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691681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" y="3758356"/>
            <a:ext cx="1985962" cy="3295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Cranes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135487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2025" y="4202162"/>
            <a:ext cx="1985962" cy="3295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Port Traffic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579292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4762" y="2870745"/>
            <a:ext cx="1985962" cy="3295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FastAPI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38537" y="3247876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14762" y="3314551"/>
            <a:ext cx="1985962" cy="3295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Vessel APIs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38537" y="3691681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4762" y="3758356"/>
            <a:ext cx="1985962" cy="3295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Assignment Logic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38537" y="4135487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14762" y="4202162"/>
            <a:ext cx="1985962" cy="3295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Simulation Engine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38537" y="4579292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67500" y="2870745"/>
            <a:ext cx="1985962" cy="6494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Congestion Scoring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91275" y="3567856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67500" y="3634531"/>
            <a:ext cx="1985962" cy="3295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Route Recs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91275" y="4011662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67500" y="4078337"/>
            <a:ext cx="1985962" cy="3295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Resource Solver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91275" y="4455467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67500" y="4522142"/>
            <a:ext cx="1985962" cy="6494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72-Hour Scheduler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91275" y="5219253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20237" y="2870745"/>
            <a:ext cx="1985962" cy="3295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React + 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44012" y="3247876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20237" y="3314551"/>
            <a:ext cx="1985962" cy="3295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Live Dashboard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44012" y="3691681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20237" y="3758356"/>
            <a:ext cx="1985962" cy="3295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What-If Simulator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44012" y="4135487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20237" y="4202162"/>
            <a:ext cx="1985962" cy="3295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Schedule View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44012" y="4579292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5800" y="3247876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5800" y="3691681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5800" y="4135487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5800" y="4579292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38537" y="3247876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538537" y="3691681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538537" y="4135487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538537" y="4579292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91275" y="3567856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91275" y="4011662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91275" y="4455467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91275" y="5219253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244012" y="3247876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244012" y="3691681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244012" y="4135487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244012" y="4579292"/>
            <a:ext cx="22621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906910"/>
            <a:ext cx="200025" cy="24765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350716"/>
            <a:ext cx="200025" cy="24765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794521"/>
            <a:ext cx="200025" cy="24765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238327"/>
            <a:ext cx="200025" cy="247650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38537" y="2906910"/>
            <a:ext cx="200025" cy="24765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38537" y="3350716"/>
            <a:ext cx="200025" cy="247650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38537" y="3794521"/>
            <a:ext cx="200025" cy="247650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38537" y="4238327"/>
            <a:ext cx="200025" cy="247650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275" y="3066901"/>
            <a:ext cx="200025" cy="247650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275" y="3670696"/>
            <a:ext cx="200025" cy="247650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275" y="4114502"/>
            <a:ext cx="200025" cy="247650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275" y="4718298"/>
            <a:ext cx="200025" cy="247650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44012" y="2906910"/>
            <a:ext cx="200025" cy="247650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44012" y="3350716"/>
            <a:ext cx="200025" cy="247650"/>
          </a:xfrm>
          <a:prstGeom prst="rect">
            <a:avLst/>
          </a:prstGeom>
        </p:spPr>
      </p:pic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44012" y="3794521"/>
            <a:ext cx="200025" cy="247650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44012" y="4238327"/>
            <a:ext cx="200025" cy="24765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071562" y="485775"/>
            <a:ext cx="11120437" cy="56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4409"/>
              </a:lnSpc>
            </a:pPr>
            <a:r>
              <a:rPr b="1" sz="3150" i="0" u="none">
                <a:solidFill>
                  <a:srgbClr val="FFFFFF"/>
                </a:solidFill>
                <a:latin typeface="Plus Jakarta Sans"/>
              </a:rPr>
              <a:t>Architecture: Data → AI → Optimization →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939230"/>
            <a:ext cx="11220450" cy="491817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2186880"/>
            <a:ext cx="2574131" cy="12933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0431" y="2186880"/>
            <a:ext cx="2574131" cy="12933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437" y="2186880"/>
            <a:ext cx="2574131" cy="129331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4443" y="2186880"/>
            <a:ext cx="2574131" cy="129331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3670696"/>
            <a:ext cx="5267325" cy="293905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3670696"/>
            <a:ext cx="5267325" cy="293905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845790"/>
            <a:ext cx="395287" cy="400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5775" y="7000279"/>
            <a:ext cx="1122045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38BDF8"/>
                </a:solidFill>
                <a:latin typeface="Plus Jakarta Sans Medium"/>
              </a:rPr>
              <a:t>"One operational view for faster, data-driven port decisions."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2329755"/>
            <a:ext cx="2155031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Plus Jakarta Sans SemiBold"/>
              </a:rPr>
              <a:t>CONGESTION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017341"/>
            <a:ext cx="2155031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FFFFFF"/>
                </a:solidFill>
                <a:latin typeface="Plus Jakarta Sans"/>
              </a:rPr>
              <a:t>84.2 /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9031" y="2329755"/>
            <a:ext cx="2155031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Plus Jakarta Sans SemiBold"/>
              </a:rPr>
              <a:t>ACTIVE VESSELS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9031" y="2697360"/>
            <a:ext cx="2155031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FFFFFF"/>
                </a:solidFill>
                <a:latin typeface="Plus Jakarta Sans"/>
              </a:rPr>
              <a:t>24 In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6037" y="2329755"/>
            <a:ext cx="2155031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Plus Jakarta Sans SemiBold"/>
              </a:rPr>
              <a:t>AVAILABLE BERTHS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6037" y="3017341"/>
            <a:ext cx="2155031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FFFFFF"/>
                </a:solidFill>
                <a:latin typeface="Plus Jakarta Sans"/>
              </a:rPr>
              <a:t>3 / 12 Free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3043" y="2329755"/>
            <a:ext cx="2155031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Plus Jakarta Sans SemiBold"/>
              </a:rPr>
              <a:t>AVAILABLE CRANES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3043" y="3017341"/>
            <a:ext cx="2155031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FFFFFF"/>
                </a:solidFill>
                <a:latin typeface="Plus Jakarta Sans"/>
              </a:rPr>
              <a:t>18 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4450" y="3851671"/>
            <a:ext cx="4710588" cy="319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8BDF8"/>
                </a:solidFill>
                <a:latin typeface="Plus Jakarta Sans SemiBold"/>
              </a:rPr>
              <a:t>Live AI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450" y="4362152"/>
            <a:ext cx="4867275" cy="3866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Reroute MSC Orion to Berth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3450" y="4815482"/>
            <a:ext cx="48672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3450" y="4901207"/>
            <a:ext cx="4867275" cy="6494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Reallocate Crane C2 to Terminal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3450" y="5617368"/>
            <a:ext cx="48672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450" y="5703093"/>
            <a:ext cx="4867275" cy="6494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Delay arrival window for CMA CGM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3450" y="6419254"/>
            <a:ext cx="48672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86550" y="3851671"/>
            <a:ext cx="4800600" cy="319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8BDF8"/>
                </a:solidFill>
                <a:latin typeface="Plus Jakarta Sans SemiBold"/>
              </a:rPr>
              <a:t>72-Hour Operations Timeline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275" y="4362152"/>
            <a:ext cx="4867275" cy="3866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Day 1: Peak Inflow Mitigation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91275" y="4815482"/>
            <a:ext cx="48672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1275" y="4901207"/>
            <a:ext cx="4867275" cy="3866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Day 2: Berth Balancing Schedule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91275" y="5354538"/>
            <a:ext cx="48672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275" y="5440263"/>
            <a:ext cx="4867275" cy="3866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Day 3: Turnaround Normalization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91275" y="5893593"/>
            <a:ext cx="48672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450" y="3897362"/>
            <a:ext cx="285750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1075" y="4362152"/>
            <a:ext cx="1009650" cy="37713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71975" y="5032623"/>
            <a:ext cx="1428750" cy="37713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8650" y="5834508"/>
            <a:ext cx="1362075" cy="37713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1275" y="3897362"/>
            <a:ext cx="200025" cy="2286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44150" y="4362152"/>
            <a:ext cx="914400" cy="37713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63175" y="4901207"/>
            <a:ext cx="1095375" cy="37713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63175" y="5440263"/>
            <a:ext cx="1095375" cy="37713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23937" y="485775"/>
            <a:ext cx="11168062" cy="112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4409"/>
              </a:lnSpc>
            </a:pPr>
            <a:r>
              <a:rPr b="1" sz="3150" i="0" u="none">
                <a:solidFill>
                  <a:srgbClr val="FFFFFF"/>
                </a:solidFill>
                <a:latin typeface="Plus Jakarta Sans"/>
              </a:rPr>
              <a:t>Key Feature: AI-Powered Congestion &amp; Operations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5905053"/>
            <a:ext cx="11220450" cy="9828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371701"/>
            <a:ext cx="3613100" cy="205710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375" y="3371701"/>
            <a:ext cx="3613100" cy="205710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3371701"/>
            <a:ext cx="3613249" cy="205710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565695"/>
            <a:ext cx="500062" cy="400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2475" y="6076503"/>
            <a:ext cx="107251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1" u="none">
                <a:solidFill>
                  <a:srgbClr val="E2E8F0"/>
                </a:solidFill>
                <a:latin typeface="Plus Jakarta Sans Medium"/>
              </a:rPr>
              <a:t>"IBM BoB was integrated into our development workflow to accelerate building, testing, and refining the working solution."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8509" y="1996380"/>
            <a:ext cx="20002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8175" y="2358330"/>
            <a:ext cx="1740693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FFFFFF"/>
                </a:solidFill>
                <a:latin typeface="Plus Jakarta Sans SemiBold"/>
              </a:rPr>
              <a:t>Requirements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8893" y="2215455"/>
            <a:ext cx="14287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9740" y="1836390"/>
            <a:ext cx="3048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21793" y="2198340"/>
            <a:ext cx="1740693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FFFFFF"/>
                </a:solidFill>
                <a:latin typeface="Plus Jakarta Sans SemiBold"/>
              </a:rPr>
              <a:t>BoB-Assisted Dev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2512" y="2215455"/>
            <a:ext cx="14287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9312" y="1996380"/>
            <a:ext cx="333375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05412" y="2358330"/>
            <a:ext cx="1781175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FFFFFF"/>
                </a:solidFill>
                <a:latin typeface="Plus Jakarta Sans SemiBold"/>
              </a:rPr>
              <a:t>Implementation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6612" y="2215455"/>
            <a:ext cx="142875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33171" y="1836390"/>
            <a:ext cx="333375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29512" y="2198340"/>
            <a:ext cx="1740693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FFFFFF"/>
                </a:solidFill>
                <a:latin typeface="Plus Jakarta Sans SemiBold"/>
              </a:rPr>
              <a:t>Testing &amp; Refinement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70231" y="2215455"/>
            <a:ext cx="142875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50128" y="1836390"/>
            <a:ext cx="266700" cy="2667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13131" y="2198340"/>
            <a:ext cx="1740693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FFFFFF"/>
                </a:solidFill>
                <a:latin typeface="Plus Jakarta Sans SemiBold"/>
              </a:rPr>
              <a:t>Working 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375" y="3562201"/>
            <a:ext cx="335370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FFFFFF"/>
                </a:solidFill>
                <a:latin typeface="Plus Jakarta Sans SemiBold"/>
              </a:rPr>
              <a:t>Rapid Scaffolding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375" y="3958381"/>
            <a:ext cx="3194000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Plus Jakarta Sans"/>
              </a:rPr>
              <a:t>Accelerated initial architectural setup and FastAPI boilerplate generation.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975" y="3562201"/>
            <a:ext cx="335370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FFFFFF"/>
                </a:solidFill>
                <a:latin typeface="Plus Jakarta Sans SemiBold"/>
              </a:rPr>
              <a:t>Logic &amp; Debugging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975" y="3958381"/>
            <a:ext cx="319400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Plus Jakarta Sans"/>
              </a:rPr>
              <a:t>Streamlined optimization algorithm structuring and edge-case testing.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575" y="3562201"/>
            <a:ext cx="3353856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FFFFFF"/>
                </a:solidFill>
                <a:latin typeface="Plus Jakarta Sans SemiBold"/>
              </a:rPr>
              <a:t>Frontend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575" y="3958381"/>
            <a:ext cx="3194149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Plus Jakarta Sans"/>
              </a:rPr>
              <a:t>Assisted component design and state synchronization for the React dashboard.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712" y="485775"/>
            <a:ext cx="11063287" cy="56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4409"/>
              </a:lnSpc>
            </a:pPr>
            <a:r>
              <a:rPr b="1" sz="3150" i="0" u="none">
                <a:solidFill>
                  <a:srgbClr val="FFFFFF"/>
                </a:solidFill>
                <a:latin typeface="Plus Jakarta Sans"/>
              </a:rPr>
              <a:t>IBM Technology: How BoB Accelerated Development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6011614"/>
            <a:ext cx="11220450" cy="9828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379190"/>
            <a:ext cx="5491162" cy="415617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1379190"/>
            <a:ext cx="5491162" cy="415617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565695"/>
            <a:ext cx="442912" cy="400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2475" y="6183064"/>
            <a:ext cx="107251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1" u="none">
                <a:solidFill>
                  <a:srgbClr val="E2E8F0"/>
                </a:solidFill>
                <a:latin typeface="Plus Jakarta Sans Medium"/>
              </a:rPr>
              <a:t>"The goal is not only to predict congestion — it is to help operators act before congestion becomes disruption."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1655415"/>
            <a:ext cx="4905613" cy="319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F43F5E"/>
                </a:solidFill>
                <a:latin typeface="Plus Jakarta Sans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6562" y="1655415"/>
            <a:ext cx="4905613" cy="319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14B8A6"/>
                </a:solidFill>
                <a:latin typeface="Plus Jakarta Sans"/>
              </a:rPr>
              <a:t>AFTER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1701105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9175" y="2194470"/>
            <a:ext cx="4710112" cy="639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Reactive decision-making under heavy queues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2986831"/>
            <a:ext cx="4710112" cy="639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Siloed data across berths and vessel operators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3779192"/>
            <a:ext cx="4710112" cy="639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Delayed awareness of developing bottlenecks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571553"/>
            <a:ext cx="4710112" cy="639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Manual, trial-and-error scheduling methods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2712" y="1701105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77037" y="2194470"/>
            <a:ext cx="4681537" cy="639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Predict → Recommend → Optimize → Plan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7037" y="2986831"/>
            <a:ext cx="4681537" cy="639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Early congestion awareness &amp; preemptive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7037" y="3779192"/>
            <a:ext cx="4681537" cy="319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72-hour continuous operational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7037" y="4251573"/>
            <a:ext cx="4681537" cy="639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What-if simulation before changing operations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2390626"/>
            <a:ext cx="171450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3182987"/>
            <a:ext cx="171450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3975348"/>
            <a:ext cx="171450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4767708"/>
            <a:ext cx="171450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2712" y="2390626"/>
            <a:ext cx="200025" cy="2476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2712" y="3182987"/>
            <a:ext cx="200025" cy="2476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2712" y="3815357"/>
            <a:ext cx="200025" cy="2476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2712" y="4447728"/>
            <a:ext cx="200025" cy="2476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71562" y="485775"/>
            <a:ext cx="11120437" cy="56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4409"/>
              </a:lnSpc>
            </a:pPr>
            <a:r>
              <a:rPr b="1" sz="3150" i="0" u="none">
                <a:solidFill>
                  <a:srgbClr val="FFFFFF"/>
                </a:solidFill>
                <a:latin typeface="Plus Jakarta Sans"/>
              </a:rPr>
              <a:t>Impact: Turning Port Data into Faster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952726"/>
            <a:ext cx="11220450" cy="10019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379190"/>
            <a:ext cx="2662237" cy="22401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512" y="1379190"/>
            <a:ext cx="2662237" cy="22401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379190"/>
            <a:ext cx="2662237" cy="22401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987" y="1379190"/>
            <a:ext cx="2662237" cy="22401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893" y="1674465"/>
            <a:ext cx="762000" cy="76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8631" y="1674465"/>
            <a:ext cx="762000" cy="762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1368" y="1674465"/>
            <a:ext cx="762000" cy="762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94106" y="1674465"/>
            <a:ext cx="762000" cy="762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" y="565695"/>
            <a:ext cx="500062" cy="400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6750" y="4133701"/>
            <a:ext cx="1085850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F8FAFC"/>
                </a:solidFill>
                <a:latin typeface="Plus Jakarta Sans SemiBold"/>
              </a:rPr>
              <a:t>Container Congestion Predictor &amp; Port Operations Optimiser • Predict. Recommend. Optimize. Plan.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770" y="2626965"/>
            <a:ext cx="1970246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1" sz="1800" i="0" u="none">
                <a:solidFill>
                  <a:srgbClr val="FFFFFF"/>
                </a:solidFill>
                <a:latin typeface="Plus Jakarta Sans"/>
              </a:rPr>
              <a:t>Shubham Mavani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9618" y="3004095"/>
            <a:ext cx="211455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38BDF8"/>
                </a:solidFill>
                <a:latin typeface="Plus Jakarta Sans Medium"/>
              </a:rPr>
              <a:t>Core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9561" y="2626965"/>
            <a:ext cx="112014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1" sz="1800" i="0" u="none">
                <a:solidFill>
                  <a:srgbClr val="FFFFFF"/>
                </a:solidFill>
                <a:latin typeface="Plus Jakarta Sans"/>
              </a:rPr>
              <a:t>Krish Goti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7131" y="3004095"/>
            <a:ext cx="190500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38BDF8"/>
                </a:solidFill>
                <a:latin typeface="Plus Jakarta Sans Medium"/>
              </a:rPr>
              <a:t>AI &amp;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2626965"/>
            <a:ext cx="150018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1" sz="1800" i="0" u="none">
                <a:solidFill>
                  <a:srgbClr val="FFFFFF"/>
                </a:solidFill>
                <a:latin typeface="Plus Jakarta Sans"/>
              </a:rPr>
              <a:t>Kavya Mehta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181" y="3004095"/>
            <a:ext cx="1476375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38BDF8"/>
                </a:solidFill>
                <a:latin typeface="Plus Jakarta Sans Medium"/>
              </a:rPr>
              <a:t>Frontend &amp;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9996" y="2626965"/>
            <a:ext cx="1750218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1" sz="1800" i="0" u="none">
                <a:solidFill>
                  <a:srgbClr val="FFFFFF"/>
                </a:solidFill>
                <a:latin typeface="Plus Jakarta Sans"/>
              </a:rPr>
              <a:t>Gurjar Navneet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8781" y="3004095"/>
            <a:ext cx="215265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38BDF8"/>
                </a:solidFill>
                <a:latin typeface="Plus Jakarta Sans Medium"/>
              </a:rPr>
              <a:t>Architecture &amp;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8712" y="485775"/>
            <a:ext cx="11063287" cy="56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4409"/>
              </a:lnSpc>
            </a:pPr>
            <a:r>
              <a:rPr b="1" sz="3150" i="0" u="none">
                <a:solidFill>
                  <a:srgbClr val="FFFFFF"/>
                </a:solidFill>
                <a:latin typeface="Plus Jakarta Sans"/>
              </a:rPr>
              <a:t>Team: Building Smarter Port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